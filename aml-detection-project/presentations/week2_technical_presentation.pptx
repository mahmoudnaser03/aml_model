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hexline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0"/>
            <a:ext cx="1887460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eastnets-green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2393717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14884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6FF81"/>
                </a:solidFill>
                <a:latin typeface="Space Grotesk"/>
              </a:rPr>
              <a:t>WEEK 2 · DATA SCIENCE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9509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>
                <a:solidFill>
                  <a:srgbClr val="FFFFFF"/>
                </a:solidFill>
                <a:latin typeface="Space Grotesk"/>
              </a:rPr>
              <a:t>AML Transaction Analysis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D7DEEE"/>
                </a:solidFill>
                <a:latin typeface="Space Grotesk"/>
              </a:rPr>
              <a:t>Exploratory Data Analysis &amp; Domain 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709160"/>
            <a:ext cx="2194560" cy="50800"/>
          </a:xfrm>
          <a:prstGeom prst="rect">
            <a:avLst/>
          </a:prstGeom>
          <a:solidFill>
            <a:srgbClr val="E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Space Grotesk"/>
              </a:rPr>
              <a:t>Dataset:  IBM Synthetic AML Dataset  —  HI-Small variant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29EBF"/>
                </a:solidFill>
                <a:latin typeface="Space Grotesk"/>
              </a:rPr>
              <a:t>Financial Crime Compliance  ·  Technical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eastnets-green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57200"/>
            <a:ext cx="2010723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6FF81"/>
                </a:solidFill>
                <a:latin typeface="Space Grotesk"/>
              </a:rPr>
              <a:t>01 ·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Space Grotesk"/>
              </a:rPr>
              <a:t>Dataset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50800"/>
          </a:xfrm>
          <a:prstGeom prst="rect">
            <a:avLst/>
          </a:prstGeom>
          <a:solidFill>
            <a:srgbClr val="E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AML Transaction Analysis  ·  Financial Crime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3520440" cy="1554480"/>
          </a:xfrm>
          <a:prstGeom prst="round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82296" cy="1554480"/>
          </a:xfrm>
          <a:prstGeom prst="rect">
            <a:avLst/>
          </a:prstGeom>
          <a:solidFill>
            <a:srgbClr val="E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84248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pace Grotesk"/>
              </a:rPr>
              <a:t>~5.08M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03A2E"/>
                </a:solidFill>
                <a:latin typeface="Space Grotesk"/>
              </a:rPr>
              <a:t>TRANSACTIONS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29EBF"/>
                </a:solidFill>
                <a:latin typeface="Space Grotesk"/>
              </a:rPr>
              <a:t>10 days simulated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520440" cy="1554480"/>
          </a:xfrm>
          <a:prstGeom prst="round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783080"/>
            <a:ext cx="82296" cy="1554480"/>
          </a:xfrm>
          <a:prstGeom prst="rect">
            <a:avLst/>
          </a:prstGeom>
          <a:solidFill>
            <a:srgbClr val="F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84248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pace Grotesk"/>
              </a:rPr>
              <a:t>11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28A1E"/>
                </a:solidFill>
                <a:latin typeface="Space Grotesk"/>
              </a:rPr>
              <a:t>COLUMNS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29EBF"/>
                </a:solidFill>
                <a:latin typeface="Space Grotesk"/>
              </a:rPr>
              <a:t>raw schema fields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82712" y="1783080"/>
            <a:ext cx="3520440" cy="1554480"/>
          </a:xfrm>
          <a:prstGeom prst="round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82712" y="1783080"/>
            <a:ext cx="82296" cy="1554480"/>
          </a:xfrm>
          <a:prstGeom prst="rect">
            <a:avLst/>
          </a:prstGeom>
          <a:solidFill>
            <a:srgbClr val="06F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1984248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pace Grotesk"/>
              </a:rPr>
              <a:t>HI-Small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6FF81"/>
                </a:solidFill>
                <a:latin typeface="Space Grotesk"/>
              </a:rPr>
              <a:t>VARIANT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29EBF"/>
                </a:solidFill>
                <a:latin typeface="Space Grotesk"/>
              </a:rPr>
              <a:t>high illicit ratio · small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57600"/>
            <a:ext cx="107899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E03A2E"/>
                </a:solidFill>
                <a:latin typeface="Space Grotesk"/>
              </a:rPr>
              <a:t>▪  </a:t>
            </a:r>
            <a:r>
              <a:rPr sz="1500" b="0">
                <a:solidFill>
                  <a:srgbClr val="D7DEEE"/>
                </a:solidFill>
                <a:latin typeface="Space Grotesk"/>
              </a:rPr>
              <a:t>Source: IBM Transactions for Anti-Money Laundering (Kaggle) — synthetic banking data.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E03A2E"/>
                </a:solidFill>
                <a:latin typeface="Space Grotesk"/>
              </a:rPr>
              <a:t>▪  </a:t>
            </a:r>
            <a:r>
              <a:rPr sz="1500" b="0">
                <a:solidFill>
                  <a:srgbClr val="D7DEEE"/>
                </a:solidFill>
                <a:latin typeface="Space Grotesk"/>
              </a:rPr>
              <a:t>HI-Small variant chosen for a high illicit ratio + small size — fast iteration within a 2-day timeline.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E03A2E"/>
                </a:solidFill>
                <a:latin typeface="Space Grotesk"/>
              </a:rPr>
              <a:t>▪  </a:t>
            </a:r>
            <a:r>
              <a:rPr sz="1500" b="0">
                <a:solidFill>
                  <a:srgbClr val="D7DEEE"/>
                </a:solidFill>
                <a:latin typeface="Space Grotesk"/>
              </a:rPr>
              <a:t>Schema: Timestamp, From Bank, Account, To Bank, Account.1, Amount Received, Receiving Currency, Amount Paid, Payment Currency, Payment Format, Is Laundering.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eastnets-green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57200"/>
            <a:ext cx="2010723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6FF81"/>
                </a:solidFill>
                <a:latin typeface="Space Grotesk"/>
              </a:rPr>
              <a:t>02 ·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Space Grotesk"/>
              </a:rPr>
              <a:t>Data Cleaning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50800"/>
          </a:xfrm>
          <a:prstGeom prst="rect">
            <a:avLst/>
          </a:prstGeom>
          <a:solidFill>
            <a:srgbClr val="E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AML Transaction Analysis  ·  Financial Crime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66751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 b="1">
                <a:solidFill>
                  <a:srgbClr val="06FF81"/>
                </a:solidFill>
                <a:latin typeface="Space Grotesk"/>
              </a:rPr>
              <a:t>✓  </a:t>
            </a:r>
            <a:r>
              <a:rPr sz="1600" b="0">
                <a:solidFill>
                  <a:srgbClr val="D7DEEE"/>
                </a:solidFill>
                <a:latin typeface="Space Grotesk"/>
              </a:rPr>
              <a:t>Timestamp cast to datetime; bank IDs cast to string type.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 b="1">
                <a:solidFill>
                  <a:srgbClr val="06FF81"/>
                </a:solidFill>
                <a:latin typeface="Space Grotesk"/>
              </a:rPr>
              <a:t>✓  </a:t>
            </a:r>
            <a:r>
              <a:rPr sz="1600" b="0">
                <a:solidFill>
                  <a:srgbClr val="D7DEEE"/>
                </a:solidFill>
                <a:latin typeface="Space Grotesk"/>
              </a:rPr>
              <a:t>Built combined Sender_ID / Receiver_ID (Account + Bank) — caught 4 account-string collisions across different banks that raw Account alone would have missed.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 b="1">
                <a:solidFill>
                  <a:srgbClr val="06FF81"/>
                </a:solidFill>
                <a:latin typeface="Space Grotesk"/>
              </a:rPr>
              <a:t>✓  </a:t>
            </a:r>
            <a:r>
              <a:rPr sz="1600" b="0">
                <a:solidFill>
                  <a:srgbClr val="D7DEEE"/>
                </a:solidFill>
                <a:latin typeface="Space Grotesk"/>
              </a:rPr>
              <a:t>Removed 9 exact duplicate rows (~0.0002% of data).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 b="1">
                <a:solidFill>
                  <a:srgbClr val="06FF81"/>
                </a:solidFill>
                <a:latin typeface="Space Grotesk"/>
              </a:rPr>
              <a:t>✓  </a:t>
            </a:r>
            <a:r>
              <a:rPr sz="1600" b="0">
                <a:solidFill>
                  <a:srgbClr val="D7DEEE"/>
                </a:solidFill>
                <a:latin typeface="Space Grotesk"/>
              </a:rPr>
              <a:t>No missing values; no negative or zero transaction amounts found.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965960"/>
            <a:ext cx="3703320" cy="3566160"/>
          </a:xfrm>
          <a:prstGeom prst="round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965960"/>
            <a:ext cx="82296" cy="3566160"/>
          </a:xfrm>
          <a:prstGeom prst="rect">
            <a:avLst/>
          </a:prstGeom>
          <a:solidFill>
            <a:srgbClr val="E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240280"/>
            <a:ext cx="32004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03A2E"/>
                </a:solidFill>
                <a:latin typeface="Space Grotesk"/>
              </a:rPr>
              <a:t>WHY THE COMBINED ID MATTERS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D7DEEE"/>
                </a:solidFill>
                <a:latin typeface="Space Grotesk"/>
              </a:rPr>
              <a:t>Account numbers are only unique within a bank. Keying on Account alone silently merges different real-world entities — a data-integrity risk before any modelling begins.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6FF81"/>
                </a:solidFill>
                <a:latin typeface="Space Grotesk"/>
              </a:rPr>
              <a:t>4 collisions resolved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eastnets-green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57200"/>
            <a:ext cx="2010723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6FF81"/>
                </a:solidFill>
                <a:latin typeface="Space Grotesk"/>
              </a:rPr>
              <a:t>03 · CLASS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Space Grotesk"/>
              </a:rPr>
              <a:t>Extreme Class Imbalance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50800"/>
          </a:xfrm>
          <a:prstGeom prst="rect">
            <a:avLst/>
          </a:prstGeom>
          <a:solidFill>
            <a:srgbClr val="E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AML Transaction Analysis  ·  Financial Crime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212080" cy="1554480"/>
          </a:xfrm>
          <a:prstGeom prst="round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82296" cy="1554480"/>
          </a:xfrm>
          <a:prstGeom prst="rect">
            <a:avLst/>
          </a:prstGeom>
          <a:solidFill>
            <a:srgbClr val="06F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29968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pace Grotesk"/>
              </a:rPr>
              <a:t>5,073,159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6FF81"/>
                </a:solidFill>
                <a:latin typeface="Space Grotesk"/>
              </a:rPr>
              <a:t>LEGITIMATE  (99.898%)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29EBF"/>
                </a:solidFill>
                <a:latin typeface="Space Grotesk"/>
              </a:rPr>
              <a:t>the overwhelming majority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212080" cy="1554480"/>
          </a:xfrm>
          <a:prstGeom prst="round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82296" cy="1554480"/>
          </a:xfrm>
          <a:prstGeom prst="rect">
            <a:avLst/>
          </a:prstGeom>
          <a:solidFill>
            <a:srgbClr val="E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029968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pace Grotesk"/>
              </a:rPr>
              <a:t>5,177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03A2E"/>
                </a:solidFill>
                <a:latin typeface="Space Grotesk"/>
              </a:rPr>
              <a:t>LAUNDERING  (0.102%)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29EBF"/>
                </a:solidFill>
                <a:latin typeface="Space Grotesk"/>
              </a:rPr>
              <a:t>roughly 1 in 980 transactions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03320"/>
            <a:ext cx="10789920" cy="1965960"/>
          </a:xfrm>
          <a:prstGeom prst="round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703320"/>
            <a:ext cx="82296" cy="1965960"/>
          </a:xfrm>
          <a:prstGeom prst="rect">
            <a:avLst/>
          </a:prstGeom>
          <a:solidFill>
            <a:srgbClr val="E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977639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03A2E"/>
                </a:solidFill>
                <a:latin typeface="Space Grotesk"/>
              </a:rPr>
              <a:t>KEY IMPLICATION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pace Grotesk"/>
              </a:rPr>
              <a:t>Accuracy is a meaningless metric here — a model predicting “never launder” scores 99.9%.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D7DEEE"/>
                </a:solidFill>
                <a:latin typeface="Space Grotesk"/>
              </a:rPr>
              <a:t>Any future model must be evaluated on precision and recall, not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eastnets-green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57200"/>
            <a:ext cx="2010723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6FF81"/>
                </a:solidFill>
                <a:latin typeface="Space Grotesk"/>
              </a:rPr>
              <a:t>04 · OUTLIERS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pace Grotesk"/>
              </a:rPr>
              <a:t>Outlier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29EBF"/>
                </a:solidFill>
                <a:latin typeface="Space Grotesk"/>
              </a:rPr>
              <a:t>IQR method · log-transformed · per payment format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09928"/>
            <a:ext cx="822960" cy="50800"/>
          </a:xfrm>
          <a:prstGeom prst="rect">
            <a:avLst/>
          </a:prstGeom>
          <a:solidFill>
            <a:srgbClr val="E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AML Transaction Analysis  ·  Financial Crime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5029200" cy="3703320"/>
          </a:xfrm>
          <a:prstGeom prst="round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65960"/>
            <a:ext cx="82296" cy="3703320"/>
          </a:xfrm>
          <a:prstGeom prst="rect">
            <a:avLst/>
          </a:prstGeom>
          <a:solidFill>
            <a:srgbClr val="F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40280"/>
            <a:ext cx="45720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F28A1E"/>
                </a:solidFill>
                <a:latin typeface="Space Grotesk"/>
              </a:rPr>
              <a:t>AMOUNT IS A WEAK SIGNAL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Space Grotesk"/>
              </a:rPr>
              <a:t>17%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D7DEEE"/>
                </a:solidFill>
                <a:latin typeface="Space Grotesk"/>
              </a:rPr>
              <a:t>of transactions flagged as amount-outliers globally.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D7DEEE"/>
                </a:solidFill>
                <a:latin typeface="Space Grotesk"/>
              </a:rPr>
              <a:t>But the laundering rate inside the outlier set ≈ the overall laundering rate. Amount alone is NOT a strong laundering signal.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965960"/>
            <a:ext cx="5486400" cy="402336"/>
          </a:xfrm>
          <a:prstGeom prst="roundRect">
            <a:avLst/>
          </a:prstGeom>
          <a:solidFill>
            <a:srgbClr val="140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17336" y="1965960"/>
            <a:ext cx="3474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6FF81"/>
                </a:solidFill>
                <a:latin typeface="Space Grotesk"/>
              </a:rPr>
              <a:t>Payment Format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74936" y="1965960"/>
            <a:ext cx="1645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6FF81"/>
                </a:solidFill>
                <a:latin typeface="Space Grotesk"/>
              </a:rPr>
              <a:t>Outlier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2368296"/>
            <a:ext cx="5486400" cy="402336"/>
          </a:xfrm>
          <a:prstGeom prst="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17336" y="2368296"/>
            <a:ext cx="3474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Bitcoin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4936" y="2368296"/>
            <a:ext cx="1645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16.8%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770632"/>
            <a:ext cx="5486400" cy="402336"/>
          </a:xfrm>
          <a:prstGeom prst="rect">
            <a:avLst/>
          </a:prstGeom>
          <a:solidFill>
            <a:srgbClr val="1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17336" y="2770632"/>
            <a:ext cx="3474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ACH*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4936" y="2770632"/>
            <a:ext cx="1645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5.3%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172968"/>
            <a:ext cx="5486400" cy="402336"/>
          </a:xfrm>
          <a:prstGeom prst="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7336" y="3172968"/>
            <a:ext cx="3474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Cheque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3172968"/>
            <a:ext cx="1645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5.1%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3575304"/>
            <a:ext cx="5486400" cy="402336"/>
          </a:xfrm>
          <a:prstGeom prst="rect">
            <a:avLst/>
          </a:prstGeom>
          <a:solidFill>
            <a:srgbClr val="1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17336" y="3575304"/>
            <a:ext cx="3474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Cash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4936" y="3575304"/>
            <a:ext cx="1645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3.4%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3977640"/>
            <a:ext cx="5486400" cy="402336"/>
          </a:xfrm>
          <a:prstGeom prst="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17336" y="3977640"/>
            <a:ext cx="3474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Credit Card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74936" y="3977640"/>
            <a:ext cx="1645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2.9%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4379976"/>
            <a:ext cx="5486400" cy="402336"/>
          </a:xfrm>
          <a:prstGeom prst="rect">
            <a:avLst/>
          </a:prstGeom>
          <a:solidFill>
            <a:srgbClr val="1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17336" y="4379976"/>
            <a:ext cx="3474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Wire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74936" y="4379976"/>
            <a:ext cx="1645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2.5%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4782312"/>
            <a:ext cx="5486400" cy="402336"/>
          </a:xfrm>
          <a:prstGeom prst="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17336" y="4782312"/>
            <a:ext cx="3474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Reinvestment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74936" y="4782312"/>
            <a:ext cx="1645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0.2%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53492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29EBF"/>
                </a:solidFill>
                <a:latin typeface="Space Grotesk"/>
              </a:rPr>
              <a:t>Outlier vs overall laundering rate is nearly identical across every format.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eastnets-green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57200"/>
            <a:ext cx="2010723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03A2E"/>
                </a:solidFill>
                <a:latin typeface="Space Grotesk"/>
              </a:rPr>
              <a:t>05 · STRONGEST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pace Grotesk"/>
              </a:rPr>
              <a:t>Payment Format Is the Strongest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50800"/>
          </a:xfrm>
          <a:prstGeom prst="rect">
            <a:avLst/>
          </a:prstGeom>
          <a:solidFill>
            <a:srgbClr val="E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AML Transaction Analysis  ·  Financial Crime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630936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-20aa4d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19189"/>
            <a:ext cx="6035040" cy="37340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178040" y="1874519"/>
            <a:ext cx="4343400" cy="1554480"/>
          </a:xfrm>
          <a:prstGeom prst="round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8040" y="1874519"/>
            <a:ext cx="82296" cy="1554480"/>
          </a:xfrm>
          <a:prstGeom prst="rect">
            <a:avLst/>
          </a:prstGeom>
          <a:solidFill>
            <a:srgbClr val="E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2075687"/>
            <a:ext cx="3886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pace Grotesk"/>
              </a:rPr>
              <a:t>0.746%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03A2E"/>
                </a:solidFill>
                <a:latin typeface="Space Grotesk"/>
              </a:rPr>
              <a:t>ACH LAUNDERING RATE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29EBF"/>
                </a:solidFill>
                <a:latin typeface="Space Grotesk"/>
              </a:rPr>
              <a:t>20–47× higher than any other format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657600"/>
            <a:ext cx="43434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450" b="1">
                <a:solidFill>
                  <a:srgbClr val="E03A2E"/>
                </a:solidFill>
                <a:latin typeface="Space Grotesk"/>
              </a:rPr>
              <a:t>▪  </a:t>
            </a:r>
            <a:r>
              <a:rPr sz="1450" b="1">
                <a:solidFill>
                  <a:srgbClr val="D7DEEE"/>
                </a:solidFill>
                <a:latin typeface="Space Grotesk"/>
              </a:rPr>
              <a:t>ACH carries ~87% of all laundering cases (4,483 of 5,177) on just ~11% of volume.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450" b="1">
                <a:solidFill>
                  <a:srgbClr val="06FF81"/>
                </a:solidFill>
                <a:latin typeface="Space Grotesk"/>
              </a:rPr>
              <a:t>▪  </a:t>
            </a:r>
            <a:r>
              <a:rPr sz="1450" b="0">
                <a:solidFill>
                  <a:srgbClr val="D7DEEE"/>
                </a:solidFill>
                <a:latin typeface="Space Grotesk"/>
              </a:rPr>
              <a:t>Wire and Reinvestment: 0% laundering in this dataset.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eastnets-green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57200"/>
            <a:ext cx="2010723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03A2E"/>
                </a:solidFill>
                <a:latin typeface="Space Grotesk"/>
              </a:rPr>
              <a:t>06 · CURRENCY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pace Grotesk"/>
              </a:rPr>
              <a:t>Currency Risk Concentration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50800"/>
          </a:xfrm>
          <a:prstGeom prst="rect">
            <a:avLst/>
          </a:prstGeom>
          <a:solidFill>
            <a:srgbClr val="E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AML Transaction Analysis  ·  Financial Crime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685800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-4726d8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63713"/>
            <a:ext cx="6583680" cy="324497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874519"/>
            <a:ext cx="3794760" cy="1554480"/>
          </a:xfrm>
          <a:prstGeom prst="round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26679" y="1874519"/>
            <a:ext cx="82296" cy="1554480"/>
          </a:xfrm>
          <a:prstGeom prst="rect">
            <a:avLst/>
          </a:prstGeom>
          <a:solidFill>
            <a:srgbClr val="E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999" y="2075687"/>
            <a:ext cx="3337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pace Grotesk"/>
              </a:rPr>
              <a:t>0.416%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03A2E"/>
                </a:solidFill>
                <a:latin typeface="Space Grotesk"/>
              </a:rPr>
              <a:t>SAUDI RIYAL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29EBF"/>
                </a:solidFill>
                <a:latin typeface="Space Grotesk"/>
              </a:rPr>
              <a:t>~4× the next currency (Euro, 0.117%)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3657600"/>
            <a:ext cx="37947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1">
                <a:solidFill>
                  <a:srgbClr val="F28A1E"/>
                </a:solidFill>
                <a:latin typeface="Space Grotesk"/>
              </a:rPr>
              <a:t>▪  </a:t>
            </a:r>
            <a:r>
              <a:rPr sz="1400" b="0">
                <a:solidFill>
                  <a:srgbClr val="D7DEEE"/>
                </a:solidFill>
                <a:latin typeface="Space Grotesk"/>
              </a:rPr>
              <a:t>USD, Yen, Aussie/Canadian Dollar, Yuan, Rupee, Ruble, Mexican Peso all cluster in a tight 0.08–0.10% band.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1">
                <a:solidFill>
                  <a:srgbClr val="06FF81"/>
                </a:solidFill>
                <a:latin typeface="Space Grotesk"/>
              </a:rPr>
              <a:t>▪  </a:t>
            </a:r>
            <a:r>
              <a:rPr sz="1400" b="0">
                <a:solidFill>
                  <a:srgbClr val="D7DEEE"/>
                </a:solidFill>
                <a:latin typeface="Space Grotesk"/>
              </a:rPr>
              <a:t>Shekel and Bitcoin sit lowest (~0.04–0.05%).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eastnets-green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57200"/>
            <a:ext cx="2010723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6FF81"/>
                </a:solidFill>
                <a:latin typeface="Space Grotesk"/>
              </a:rPr>
              <a:t>07 · ENTITY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Space Grotesk"/>
              </a:rPr>
              <a:t>Bank Concentration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50800"/>
          </a:xfrm>
          <a:prstGeom prst="rect">
            <a:avLst/>
          </a:prstGeom>
          <a:solidFill>
            <a:srgbClr val="E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AML Transaction Analysis  ·  Financial Crime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5212080" cy="1554480"/>
          </a:xfrm>
          <a:prstGeom prst="round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82296" cy="1554480"/>
          </a:xfrm>
          <a:prstGeom prst="rect">
            <a:avLst/>
          </a:prstGeom>
          <a:solidFill>
            <a:srgbClr val="F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21408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pace Grotesk"/>
              </a:rPr>
              <a:t>up to 27%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28A1E"/>
                </a:solidFill>
                <a:latin typeface="Space Grotesk"/>
              </a:rPr>
              <a:t>PEAK BANK-LEVEL RATE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29EBF"/>
                </a:solidFill>
                <a:latin typeface="Space Grotesk"/>
              </a:rPr>
              <a:t>low volume · ~91 transactions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20240"/>
            <a:ext cx="5212080" cy="1554480"/>
          </a:xfrm>
          <a:prstGeom prst="round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920240"/>
            <a:ext cx="82296" cy="1554480"/>
          </a:xfrm>
          <a:prstGeom prst="rect">
            <a:avLst/>
          </a:prstGeom>
          <a:solidFill>
            <a:srgbClr val="E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121408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pace Grotesk"/>
              </a:rPr>
              <a:t>Not confirmed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03A2E"/>
                </a:solidFill>
                <a:latin typeface="Space Grotesk"/>
              </a:rPr>
              <a:t>STATUS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29EBF"/>
                </a:solidFill>
                <a:latin typeface="Space Grotesk"/>
              </a:rPr>
              <a:t>flagged for further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94760"/>
            <a:ext cx="10789920" cy="1874519"/>
          </a:xfrm>
          <a:prstGeom prst="round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794760"/>
            <a:ext cx="82296" cy="1874519"/>
          </a:xfrm>
          <a:prstGeom prst="rect">
            <a:avLst/>
          </a:prstGeom>
          <a:solidFill>
            <a:srgbClr val="06F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6908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6FF81"/>
                </a:solidFill>
                <a:latin typeface="Space Grotesk"/>
              </a:rPr>
              <a:t>INTERPRETATION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pace Grotesk"/>
              </a:rPr>
              <a:t>A small number of sending banks show very high laundering rates — but on tiny volumes, so the estimates are fragile.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D7DEEE"/>
                </a:solidFill>
                <a:latin typeface="Space Grotesk"/>
              </a:rPr>
              <a:t>Suggests entity-level risk scoring as a complement to transaction-level rules.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eastnets-green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57200"/>
            <a:ext cx="2010723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6FF81"/>
                </a:solidFill>
                <a:latin typeface="Space Grotesk"/>
              </a:rPr>
              <a:t>08 · TEMPORAL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pace Grotesk"/>
              </a:rPr>
              <a:t>Time Patterns: The Weekend Effect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50800"/>
          </a:xfrm>
          <a:prstGeom prst="rect">
            <a:avLst/>
          </a:prstGeom>
          <a:solidFill>
            <a:srgbClr val="E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AML Transaction Analysis  ·  Financial Crime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603504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-84367b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75" y="2011680"/>
            <a:ext cx="5615649" cy="37490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03720" y="2103120"/>
            <a:ext cx="46177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550" b="1">
                <a:solidFill>
                  <a:srgbClr val="E03A2E"/>
                </a:solidFill>
                <a:latin typeface="Space Grotesk"/>
              </a:rPr>
              <a:t>▪  </a:t>
            </a:r>
            <a:r>
              <a:rPr sz="1550" b="1">
                <a:solidFill>
                  <a:srgbClr val="D7DEEE"/>
                </a:solidFill>
                <a:latin typeface="Space Grotesk"/>
              </a:rPr>
              <a:t>Laundering rate highest on Sunday (~0.30%) and Saturday (~0.20%) vs weekdays (~0.10–0.13%).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550" b="1">
                <a:solidFill>
                  <a:srgbClr val="F28A1E"/>
                </a:solidFill>
                <a:latin typeface="Space Grotesk"/>
              </a:rPr>
              <a:t>▪  </a:t>
            </a:r>
            <a:r>
              <a:rPr sz="1550" b="0">
                <a:solidFill>
                  <a:srgbClr val="D7DEEE"/>
                </a:solidFill>
                <a:latin typeface="Space Grotesk"/>
              </a:rPr>
              <a:t>Intraday peaks around midday hours (11:00–16:00).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550" b="1">
                <a:solidFill>
                  <a:srgbClr val="06FF81"/>
                </a:solidFill>
                <a:latin typeface="Space Grotesk"/>
              </a:rPr>
              <a:t>▪  </a:t>
            </a:r>
            <a:r>
              <a:rPr sz="1550" b="0">
                <a:solidFill>
                  <a:srgbClr val="D7DEEE"/>
                </a:solidFill>
                <a:latin typeface="Space Grotesk"/>
              </a:rPr>
              <a:t>Business implication: weekend monitoring may need adjusted staffing and thresholds.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eastnets-green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57200"/>
            <a:ext cx="2010723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6FF81"/>
                </a:solidFill>
                <a:latin typeface="Space Grotesk"/>
              </a:rPr>
              <a:t>09 · DOMAIN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pace Grotesk"/>
              </a:rPr>
              <a:t>Six Money-Laundering Typologies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50800"/>
          </a:xfrm>
          <a:prstGeom prst="rect">
            <a:avLst/>
          </a:prstGeom>
          <a:solidFill>
            <a:srgbClr val="E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AML Transaction Analysis  ·  Financial Crime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10835640" cy="566928"/>
          </a:xfrm>
          <a:prstGeom prst="roundRect">
            <a:avLst/>
          </a:prstGeom>
          <a:solidFill>
            <a:srgbClr val="140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920240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6FF81"/>
                </a:solidFill>
                <a:latin typeface="Space Grotesk"/>
              </a:rPr>
              <a:t>Typology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7016" y="1920240"/>
            <a:ext cx="4251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6FF81"/>
                </a:solidFill>
                <a:latin typeface="Space Grotesk"/>
              </a:rPr>
              <a:t>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1856" y="1920240"/>
            <a:ext cx="347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6FF81"/>
                </a:solidFill>
                <a:latin typeface="Space Grotesk"/>
              </a:rPr>
              <a:t>How it appears in transaction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487168"/>
            <a:ext cx="10835640" cy="566928"/>
          </a:xfrm>
          <a:prstGeom prst="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2487168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Fan-Out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2487168"/>
            <a:ext cx="4251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One source pushes funds to many recipients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1856" y="2487168"/>
            <a:ext cx="347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1 sender → many receivers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054096"/>
            <a:ext cx="10835640" cy="566928"/>
          </a:xfrm>
          <a:prstGeom prst="rect">
            <a:avLst/>
          </a:prstGeom>
          <a:solidFill>
            <a:srgbClr val="1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3054096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Fan-In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6" y="3054096"/>
            <a:ext cx="4251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Many sources funnel into one account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1856" y="3054096"/>
            <a:ext cx="347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many senders → 1 receiver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621024"/>
            <a:ext cx="10835640" cy="566928"/>
          </a:xfrm>
          <a:prstGeom prst="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3621024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Layering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7016" y="3621024"/>
            <a:ext cx="4251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Funds moved through chained intermediaries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1856" y="3621024"/>
            <a:ext cx="347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long sequential hops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187952"/>
            <a:ext cx="10835640" cy="566928"/>
          </a:xfrm>
          <a:prstGeom prst="rect">
            <a:avLst/>
          </a:prstGeom>
          <a:solidFill>
            <a:srgbClr val="1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4187952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Circular / 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7016" y="4187952"/>
            <a:ext cx="4251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Funds return to the origin account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1856" y="4187952"/>
            <a:ext cx="347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closed loop in the graph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754880"/>
            <a:ext cx="10835640" cy="566928"/>
          </a:xfrm>
          <a:prstGeom prst="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" y="4754880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Smurfing / Structuring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57016" y="4754880"/>
            <a:ext cx="4251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Large sums split into sub-threshold amounts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4754880"/>
            <a:ext cx="347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many small, similar transfers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321808"/>
            <a:ext cx="10835640" cy="566928"/>
          </a:xfrm>
          <a:prstGeom prst="rect">
            <a:avLst/>
          </a:prstGeom>
          <a:solidFill>
            <a:srgbClr val="1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" y="5321808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Pass-through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57016" y="5321808"/>
            <a:ext cx="4251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Account receives and forwards near-identical sums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91856" y="5321808"/>
            <a:ext cx="347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in ≈ out, short dwell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eastnets-green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57200"/>
            <a:ext cx="2010723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6FF81"/>
                </a:solidFill>
                <a:latin typeface="Space Grotesk"/>
              </a:rPr>
              <a:t>10 · GROUND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pace Grotesk"/>
              </a:rPr>
              <a:t>Typologies in the Labeled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50800"/>
          </a:xfrm>
          <a:prstGeom prst="rect">
            <a:avLst/>
          </a:prstGeom>
          <a:solidFill>
            <a:srgbClr val="E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AML Transaction Analysis  ·  Financial Crime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4708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7DEEE"/>
                </a:solidFill>
                <a:latin typeface="Space Grotesk"/>
              </a:rPr>
              <a:t>Parsed HI-Small_Patterns.txt — 370 labeled laundering attempts across 3,209 transaction rows.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23160"/>
            <a:ext cx="7680960" cy="402336"/>
          </a:xfrm>
          <a:prstGeom prst="roundRect">
            <a:avLst/>
          </a:prstGeom>
          <a:solidFill>
            <a:srgbClr val="140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423160"/>
            <a:ext cx="3200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6FF81"/>
                </a:solidFill>
                <a:latin typeface="Space Grotesk"/>
              </a:rPr>
              <a:t>Pattern (dataset label)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7096" y="2423160"/>
            <a:ext cx="1097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6FF81"/>
                </a:solidFill>
                <a:latin typeface="Space Grotesk"/>
              </a:rPr>
              <a:t>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7256" y="2423160"/>
            <a:ext cx="2834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6FF81"/>
                </a:solidFill>
                <a:latin typeface="Space Grotesk"/>
              </a:rPr>
              <a:t>Maps to general typology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25496"/>
            <a:ext cx="7680960" cy="402336"/>
          </a:xfrm>
          <a:prstGeom prst="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825496"/>
            <a:ext cx="3200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7096" y="2825496"/>
            <a:ext cx="1097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77256" y="2825496"/>
            <a:ext cx="2834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Circular / Cycle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227832"/>
            <a:ext cx="7680960" cy="402336"/>
          </a:xfrm>
          <a:prstGeom prst="rect">
            <a:avLst/>
          </a:prstGeom>
          <a:solidFill>
            <a:srgbClr val="1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227832"/>
            <a:ext cx="3200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GATHER-SCATTER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7096" y="3227832"/>
            <a:ext cx="1097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51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77256" y="3227832"/>
            <a:ext cx="2834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Fan-In → Fan-Out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630168"/>
            <a:ext cx="7680960" cy="402336"/>
          </a:xfrm>
          <a:prstGeom prst="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3630168"/>
            <a:ext cx="3200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BIPARTITE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97096" y="3630168"/>
            <a:ext cx="1097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77256" y="3630168"/>
            <a:ext cx="2834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Smurfing / Structuring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032504"/>
            <a:ext cx="7680960" cy="402336"/>
          </a:xfrm>
          <a:prstGeom prst="rect">
            <a:avLst/>
          </a:prstGeom>
          <a:solidFill>
            <a:srgbClr val="1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4032504"/>
            <a:ext cx="3200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FAN-OUT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97096" y="4032504"/>
            <a:ext cx="1097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77256" y="4032504"/>
            <a:ext cx="2834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Fan-Out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434840"/>
            <a:ext cx="7680960" cy="402336"/>
          </a:xfrm>
          <a:prstGeom prst="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4434840"/>
            <a:ext cx="3200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SCATTER-GATHER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97096" y="4434840"/>
            <a:ext cx="1097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77256" y="4434840"/>
            <a:ext cx="2834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Fan-Out → Fan-In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837176"/>
            <a:ext cx="7680960" cy="402336"/>
          </a:xfrm>
          <a:prstGeom prst="rect">
            <a:avLst/>
          </a:prstGeom>
          <a:solidFill>
            <a:srgbClr val="1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" y="4837176"/>
            <a:ext cx="3200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97096" y="4837176"/>
            <a:ext cx="1097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43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77256" y="4837176"/>
            <a:ext cx="2834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Layering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5239512"/>
            <a:ext cx="7680960" cy="402336"/>
          </a:xfrm>
          <a:prstGeom prst="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" y="5239512"/>
            <a:ext cx="3200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RANDOM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97096" y="5239512"/>
            <a:ext cx="1097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41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77256" y="5239512"/>
            <a:ext cx="2834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Mixed / noise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5641848"/>
            <a:ext cx="7680960" cy="402336"/>
          </a:xfrm>
          <a:prstGeom prst="rect">
            <a:avLst/>
          </a:prstGeom>
          <a:solidFill>
            <a:srgbClr val="1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3816" y="5641848"/>
            <a:ext cx="3200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FAN-IN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97096" y="5641848"/>
            <a:ext cx="1097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77256" y="5641848"/>
            <a:ext cx="2834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Fan-In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95360" y="2423160"/>
            <a:ext cx="2926080" cy="3621024"/>
          </a:xfrm>
          <a:prstGeom prst="round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95360" y="2423160"/>
            <a:ext cx="82296" cy="3621024"/>
          </a:xfrm>
          <a:prstGeom prst="rect">
            <a:avLst/>
          </a:prstGeom>
          <a:solidFill>
            <a:srgbClr val="E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23960" y="2697480"/>
            <a:ext cx="2514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Space Grotesk"/>
              </a:rPr>
              <a:t>8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E03A2E"/>
                </a:solidFill>
                <a:latin typeface="Space Grotesk"/>
              </a:rPr>
              <a:t>REAL PATTERN TYPES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D7DEEE"/>
                </a:solidFill>
                <a:latin typeface="Space Grotesk"/>
              </a:rPr>
              <a:t>CYCLE is the single most common — motivating graph / cycle-based features.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eastnets-green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57200"/>
            <a:ext cx="2010723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6FF81"/>
                </a:solidFill>
                <a:latin typeface="Space Grotesk"/>
              </a:rPr>
              <a:t>11 ·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pace Grotesk"/>
              </a:rPr>
              <a:t>Feature Engineering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50800"/>
          </a:xfrm>
          <a:prstGeom prst="rect">
            <a:avLst/>
          </a:prstGeom>
          <a:solidFill>
            <a:srgbClr val="E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AML Transaction Analysis  ·  Financial Crime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2615184" cy="2651760"/>
          </a:xfrm>
          <a:prstGeom prst="round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2615184" cy="109728"/>
          </a:xfrm>
          <a:prstGeom prst="rect">
            <a:avLst/>
          </a:prstGeom>
          <a:solidFill>
            <a:srgbClr val="E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48840"/>
            <a:ext cx="2249424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03A2E"/>
                </a:solidFill>
                <a:latin typeface="Space Grotesk"/>
              </a:rPr>
              <a:t>1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Space Grotesk"/>
              </a:rPr>
              <a:t>Transaction-level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D7DEEE"/>
                </a:solidFill>
                <a:latin typeface="Space Grotesk"/>
              </a:rPr>
              <a:t>Payment-format encoding · currency risk score · threshold-proximity flags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1920240"/>
            <a:ext cx="2615184" cy="2651760"/>
          </a:xfrm>
          <a:prstGeom prst="round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9856" y="1920240"/>
            <a:ext cx="2615184" cy="109728"/>
          </a:xfrm>
          <a:prstGeom prst="rect">
            <a:avLst/>
          </a:prstGeom>
          <a:solidFill>
            <a:srgbClr val="F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2148840"/>
            <a:ext cx="2249424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28A1E"/>
                </a:solidFill>
                <a:latin typeface="Space Grotesk"/>
              </a:rPr>
              <a:t>2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Space Grotesk"/>
              </a:rPr>
              <a:t>Account / Profile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D7DEEE"/>
                </a:solidFill>
                <a:latin typeface="Space Grotesk"/>
              </a:rPr>
              <a:t>Total sent/received · turnover ratio · account age · dominant format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1920240"/>
            <a:ext cx="2615184" cy="2651760"/>
          </a:xfrm>
          <a:prstGeom prst="round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3912" y="1920240"/>
            <a:ext cx="2615184" cy="109728"/>
          </a:xfrm>
          <a:prstGeom prst="rect">
            <a:avLst/>
          </a:prstGeom>
          <a:solidFill>
            <a:srgbClr val="06F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148840"/>
            <a:ext cx="2249424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6FF81"/>
                </a:solidFill>
                <a:latin typeface="Space Grotesk"/>
              </a:rPr>
              <a:t>3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Space Grotesk"/>
              </a:rPr>
              <a:t>Peer / Network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D7DEEE"/>
                </a:solidFill>
                <a:latin typeface="Space Grotesk"/>
              </a:rPr>
              <a:t>In/out-degree · cycle detection · betweenness · PageRank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7968" y="1920240"/>
            <a:ext cx="2615184" cy="2651760"/>
          </a:xfrm>
          <a:prstGeom prst="round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87968" y="1920240"/>
            <a:ext cx="2615184" cy="109728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9136" y="2148840"/>
            <a:ext cx="2249424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5B8DEF"/>
                </a:solidFill>
                <a:latin typeface="Space Grotesk"/>
              </a:rPr>
              <a:t>4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Space Grotesk"/>
              </a:rPr>
              <a:t>Time-level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D7DEEE"/>
                </a:solidFill>
                <a:latin typeface="Space Grotesk"/>
              </a:rPr>
              <a:t>Hour of day · weekend flag · velocity · burstiness · time since prior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800600"/>
            <a:ext cx="10835640" cy="1051560"/>
          </a:xfrm>
          <a:prstGeom prst="roundRect">
            <a:avLst/>
          </a:prstGeom>
          <a:solidFill>
            <a:srgbClr val="1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98348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06FF81"/>
                </a:solidFill>
                <a:latin typeface="Space Grotesk"/>
              </a:rPr>
              <a:t>PRIORITY BUILD ORDER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Space Grotesk"/>
              </a:rPr>
              <a:t>Payment format + currency risk  →  in/out-degree  →  time features  →  graph / cycle features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eastnets-green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57200"/>
            <a:ext cx="2010723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03A2E"/>
                </a:solidFill>
                <a:latin typeface="Space Grotesk"/>
              </a:rPr>
              <a:t>12 ·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pace Grotesk"/>
              </a:rPr>
              <a:t>False Positives vs False Negatives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50800"/>
          </a:xfrm>
          <a:prstGeom prst="rect">
            <a:avLst/>
          </a:prstGeom>
          <a:solidFill>
            <a:srgbClr val="E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AML Transaction Analysis  ·  Financial Crime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212080" cy="1554480"/>
          </a:xfrm>
          <a:prstGeom prst="round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82296" cy="1554480"/>
          </a:xfrm>
          <a:prstGeom prst="rect">
            <a:avLst/>
          </a:prstGeom>
          <a:solidFill>
            <a:srgbClr val="F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29968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pace Grotesk"/>
              </a:rPr>
              <a:t>~$20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28A1E"/>
                </a:solidFill>
                <a:latin typeface="Space Grotesk"/>
              </a:rPr>
              <a:t>COST PER FALSE POSITIVE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29EBF"/>
                </a:solidFill>
                <a:latin typeface="Space Grotesk"/>
              </a:rPr>
              <a:t>analyst review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212080" cy="1554480"/>
          </a:xfrm>
          <a:prstGeom prst="round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82296" cy="1554480"/>
          </a:xfrm>
          <a:prstGeom prst="rect">
            <a:avLst/>
          </a:prstGeom>
          <a:solidFill>
            <a:srgbClr val="E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029968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pace Grotesk"/>
              </a:rPr>
              <a:t>~$10,000+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03A2E"/>
                </a:solidFill>
                <a:latin typeface="Space Grotesk"/>
              </a:rPr>
              <a:t>COST PER FALSE NEGATIVE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29EBF"/>
                </a:solidFill>
                <a:latin typeface="Space Grotesk"/>
              </a:rPr>
              <a:t>conservative · per missed case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57600"/>
            <a:ext cx="6949440" cy="457200"/>
          </a:xfrm>
          <a:prstGeom prst="roundRect">
            <a:avLst/>
          </a:prstGeom>
          <a:solidFill>
            <a:srgbClr val="140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365760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6FF81"/>
                </a:solidFill>
                <a:latin typeface="Space Grotesk"/>
              </a:rPr>
              <a:t>Scenario @ 90% recall / 1% FP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365760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6FF81"/>
                </a:solidFill>
                <a:latin typeface="Space Grotesk"/>
              </a:rPr>
              <a:t>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365760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6FF81"/>
                </a:solidFill>
                <a:latin typeface="Space Grotesk"/>
              </a:rPr>
              <a:t>Aggregate cost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14800"/>
            <a:ext cx="6949440" cy="457200"/>
          </a:xfrm>
          <a:prstGeom prst="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411480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Missed cases (FN)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4296" y="411480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~518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411480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03A2E"/>
                </a:solidFill>
                <a:latin typeface="Space Grotesk"/>
              </a:rPr>
              <a:t>~$5.18M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572000"/>
            <a:ext cx="6949440" cy="457200"/>
          </a:xfrm>
          <a:prstGeom prst="rect">
            <a:avLst/>
          </a:prstGeom>
          <a:solidFill>
            <a:srgbClr val="1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57200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False alerts (FP)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4296" y="457200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7DEEE"/>
                </a:solidFill>
                <a:latin typeface="Space Grotesk"/>
              </a:rPr>
              <a:t>~50,732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8776" y="457200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28A1E"/>
                </a:solidFill>
                <a:latin typeface="Space Grotesk"/>
              </a:rPr>
              <a:t>~$1.01M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3657600"/>
            <a:ext cx="3657600" cy="1828800"/>
          </a:xfrm>
          <a:prstGeom prst="roundRect">
            <a:avLst/>
          </a:prstGeom>
          <a:solidFill>
            <a:srgbClr val="16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63840" y="3657600"/>
            <a:ext cx="82296" cy="1828800"/>
          </a:xfrm>
          <a:prstGeom prst="rect">
            <a:avLst/>
          </a:prstGeom>
          <a:solidFill>
            <a:srgbClr val="06F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388620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6FF81"/>
                </a:solidFill>
                <a:latin typeface="Space Grotesk"/>
              </a:rPr>
              <a:t>RECOMMENDATION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pace Grotesk"/>
              </a:rPr>
              <a:t>Prioritize recall over precision.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7DEEE"/>
                </a:solidFill>
                <a:latin typeface="Space Grotesk"/>
              </a:rPr>
              <a:t>Missed cases cost more in aggregate, even though false positives are far more numerous.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eastnets-green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57200"/>
            <a:ext cx="2010723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6FF81"/>
                </a:solidFill>
                <a:latin typeface="Space Grotesk"/>
              </a:rPr>
              <a:t>13 ·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pace Grotesk"/>
              </a:rPr>
              <a:t>Key Takeaways &amp; FCC Connection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50800"/>
          </a:xfrm>
          <a:prstGeom prst="rect">
            <a:avLst/>
          </a:prstGeom>
          <a:solidFill>
            <a:srgbClr val="06F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AML Transaction Analysis  ·  Financial Crime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107899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>
                <a:solidFill>
                  <a:srgbClr val="06FF81"/>
                </a:solidFill>
                <a:latin typeface="Space Grotesk"/>
              </a:rPr>
              <a:t>▸  </a:t>
            </a:r>
            <a:r>
              <a:rPr sz="1700" b="1">
                <a:solidFill>
                  <a:srgbClr val="D7DEEE"/>
                </a:solidFill>
                <a:latin typeface="Space Grotesk"/>
              </a:rPr>
              <a:t>Transaction amount alone is a weak signal — payment channel, currency, and network structure are far stronger indicators.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>
                <a:solidFill>
                  <a:srgbClr val="06FF81"/>
                </a:solidFill>
                <a:latin typeface="Space Grotesk"/>
              </a:rPr>
              <a:t>▸  </a:t>
            </a:r>
            <a:r>
              <a:rPr sz="1700" b="0">
                <a:solidFill>
                  <a:srgbClr val="D7DEEE"/>
                </a:solidFill>
                <a:latin typeface="Space Grotesk"/>
              </a:rPr>
              <a:t>Class imbalance demands recall-oriented evaluation, not accuracy.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>
                <a:solidFill>
                  <a:srgbClr val="06FF81"/>
                </a:solidFill>
                <a:latin typeface="Space Grotesk"/>
              </a:rPr>
              <a:t>▸  </a:t>
            </a:r>
            <a:r>
              <a:rPr sz="1700" b="0">
                <a:solidFill>
                  <a:srgbClr val="D7DEEE"/>
                </a:solidFill>
                <a:latin typeface="Space Grotesk"/>
              </a:rPr>
              <a:t>Weekend activity and the ACH channel deserve elevated monitoring priority.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>
                <a:solidFill>
                  <a:srgbClr val="06FF81"/>
                </a:solidFill>
                <a:latin typeface="Space Grotesk"/>
              </a:rPr>
              <a:t>▸  </a:t>
            </a:r>
            <a:r>
              <a:rPr sz="1700" b="0">
                <a:solidFill>
                  <a:srgbClr val="D7DEEE"/>
                </a:solidFill>
                <a:latin typeface="Space Grotesk"/>
              </a:rPr>
              <a:t>Graph-based features (degree, cycles) directly target the most common real typology (CYCLE).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074920"/>
            <a:ext cx="10835640" cy="868680"/>
          </a:xfrm>
          <a:prstGeom prst="roundRect">
            <a:avLst/>
          </a:prstGeom>
          <a:solidFill>
            <a:srgbClr val="1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230368"/>
            <a:ext cx="10332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6FF81"/>
                </a:solidFill>
                <a:latin typeface="Space Grotesk"/>
              </a:rPr>
              <a:t>NEXT STEPS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Space Grotesk"/>
              </a:rPr>
              <a:t>Implement Tier 1–2 features  ·  validate bank-level findings  ·  extend to HI-Medium.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eastnets-green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57200"/>
            <a:ext cx="2010723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28A1E"/>
                </a:solidFill>
                <a:latin typeface="Space Grotesk"/>
              </a:rPr>
              <a:t>14 ·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pace Grotesk"/>
              </a:rPr>
              <a:t>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50800"/>
          </a:xfrm>
          <a:prstGeom prst="rect">
            <a:avLst/>
          </a:prstGeom>
          <a:solidFill>
            <a:srgbClr val="F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AML Transaction Analysis  ·  Financial Crime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EBF"/>
                </a:solidFill>
                <a:latin typeface="Space Grotesk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107899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>
                <a:solidFill>
                  <a:srgbClr val="F28A1E"/>
                </a:solidFill>
                <a:latin typeface="Space Grotesk"/>
              </a:rPr>
              <a:t>⚠  </a:t>
            </a:r>
            <a:r>
              <a:rPr sz="1700" b="1">
                <a:solidFill>
                  <a:srgbClr val="D7DEEE"/>
                </a:solidFill>
                <a:latin typeface="Space Grotesk"/>
              </a:rPr>
              <a:t>Synthetic dataset — exact rates (e.g. ACH 0.746%) reflect simulator design and may not transfer directly to real-world data. Directional patterns are more trustworthy than precise percentages.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>
                <a:solidFill>
                  <a:srgbClr val="F28A1E"/>
                </a:solidFill>
                <a:latin typeface="Space Grotesk"/>
              </a:rPr>
              <a:t>⚠  </a:t>
            </a:r>
            <a:r>
              <a:rPr sz="1700" b="0">
                <a:solidFill>
                  <a:srgbClr val="D7DEEE"/>
                </a:solidFill>
                <a:latin typeface="Space Grotesk"/>
              </a:rPr>
              <a:t>Low-volume bank findings need further validation before operational use.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>
                <a:solidFill>
                  <a:srgbClr val="F28A1E"/>
                </a:solidFill>
                <a:latin typeface="Space Grotesk"/>
              </a:rPr>
              <a:t>⚠  </a:t>
            </a:r>
            <a:r>
              <a:rPr sz="1700" b="0">
                <a:solidFill>
                  <a:srgbClr val="D7DEEE"/>
                </a:solidFill>
                <a:latin typeface="Space Grotesk"/>
              </a:rPr>
              <a:t>Analysis limited to HI-Small — 10 days, ~5M transactions.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